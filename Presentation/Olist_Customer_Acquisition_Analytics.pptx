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Olist E-Commerce</a:t>
            </a:r>
          </a:p>
          <a:p>
            <a:pPr>
              <a:defRPr sz="3000">
                <a:solidFill>
                  <a:srgbClr val="D9EAF7"/>
                </a:solidFill>
              </a:defRPr>
            </a:pPr>
            <a:r>
              <a:t>Customer Acquisition &amp; Revenue Analytics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Python · Pandas · SQL · MySQL · ELT ·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From data loading and validation to acquisition reconciliation and business 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1. 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5182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rPr b="1" dirty="0"/>
              <a:t>Can we connect marketing acquisition with downstream marketplace activity?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1900">
                <a:solidFill>
                  <a:srgbClr val="263445"/>
                </a:solidFill>
              </a:defRPr>
            </a:pPr>
            <a:r>
              <a:rPr dirty="0"/>
              <a:t>Marketing brings potential sellers into the funnel; a closed deal is only one step in the seller journey.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1900">
                <a:solidFill>
                  <a:srgbClr val="263445"/>
                </a:solidFill>
              </a:defRPr>
            </a:pPr>
            <a:r>
              <a:rPr dirty="0"/>
              <a:t>The analysis connects lead and deal records with seller master and transaction data.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1900">
                <a:solidFill>
                  <a:srgbClr val="263445"/>
                </a:solidFill>
              </a:defRPr>
            </a:pPr>
            <a:r>
              <a:rPr dirty="0"/>
              <a:t>The decision focus is not just how many deals close, but whether sellers activate and generate observable marketplace activity.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1900">
                <a:solidFill>
                  <a:srgbClr val="263445"/>
                </a:solidFill>
              </a:defRPr>
            </a:pPr>
            <a:r>
              <a:rPr dirty="0"/>
              <a:t>A missing transaction match is a signal to investigate—not automatic proof of bad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2. Data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7198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rPr b="1" dirty="0"/>
              <a:t>Public </a:t>
            </a:r>
            <a:r>
              <a:rPr b="1" dirty="0" err="1"/>
              <a:t>Olist</a:t>
            </a:r>
            <a:r>
              <a:rPr b="1" dirty="0"/>
              <a:t> e-commerce and marketing-funnel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23160" cy="14173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source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423160" cy="14173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~1.46M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source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423160" cy="14173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1,000,163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geolocation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600200"/>
            <a:ext cx="2423160" cy="1417320"/>
          </a:xfrm>
          <a:prstGeom prst="roundRect">
            <a:avLst/>
          </a:prstGeom>
          <a:solidFill>
            <a:srgbClr val="D9EAF7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8105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8,000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qualified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10698480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63445"/>
                </a:solidFill>
              </a:defRPr>
            </a:pPr>
            <a:r>
              <a:rPr dirty="0"/>
              <a:t>Data domains include customers, sellers, orders, order items, payments, reviews, products, geolocation, qualified leads and closed deals.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800">
                <a:solidFill>
                  <a:srgbClr val="263445"/>
                </a:solidFill>
              </a:defRPr>
            </a:pPr>
            <a:r>
              <a:rPr dirty="0"/>
              <a:t>Source-file row counts are documented in the ingestion summary; totals across tables are records, not unique people or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3. Data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84060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rPr b="1" dirty="0"/>
              <a:t>A simple layered ELT pipeline with validation at each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18488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rPr dirty="0"/>
              <a:t>01  Python / Pandas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rPr dirty="0"/>
              <a:t>File, schema and row-count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5152" y="1618488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02  Raw MySQL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t>Load source values faithfully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85632" y="1618488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03  SQL validation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t>Keys, duplicates, nulls, 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79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721607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04  Staging &amp; cleaning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t>Standardise fields for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611879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3721607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05  Business analysis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t>Funnel, seller matches, monthly 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11879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3721607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365D"/>
                </a:solidFill>
              </a:defRPr>
            </a:pPr>
            <a:r>
              <a:t>06  Reporting</a:t>
            </a:r>
          </a:p>
          <a:p>
            <a:pPr>
              <a:defRPr sz="1200">
                <a:solidFill>
                  <a:srgbClr val="384454"/>
                </a:solidFill>
              </a:defRPr>
            </a:pPr>
            <a:r>
              <a:t>Excel scorecard and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4. Acquisition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34212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rPr b="1" dirty="0"/>
              <a:t>Counts are based on the supplied source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2071115" y="1508760"/>
            <a:ext cx="8046720" cy="77724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62556" y="1627631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Marketing-qualified leads: 8,000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3717035" y="2743200"/>
            <a:ext cx="4754880" cy="77724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08475" y="2862072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Closed deals: 842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1436" y="3977639"/>
            <a:ext cx="2926080" cy="7772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2875" y="4096511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 transaction match: 462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515600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400">
                <a:solidFill>
                  <a:srgbClr val="263445"/>
                </a:solidFill>
              </a:defRPr>
            </a:pPr>
            <a:r>
              <a:rPr dirty="0"/>
              <a:t>Closed-deal-to-lead ratio: approximately 10.5% (842 / 8,000). Confirm cohort and join logic before calling this a formal conversion rate.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400">
                <a:solidFill>
                  <a:srgbClr val="263445"/>
                </a:solidFill>
              </a:defRPr>
            </a:pPr>
            <a:r>
              <a:rPr dirty="0"/>
              <a:t>462 of 842 closed deals (about 55%) have no matching seller in the transaction records in the reported reconciliation.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5. Data reliability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263445"/>
                </a:solidFill>
              </a:defRPr>
            </a:pPr>
            <a:r>
              <a:rPr dirty="0"/>
              <a:t>A source file contained 99,224 order-review rows, but a MySQL load initially dropped one row because backslash escaping affected CSV parsing.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263445"/>
                </a:solidFill>
              </a:defRPr>
            </a:pPr>
            <a:r>
              <a:rPr dirty="0"/>
              <a:t>The load configuration was corrected and the expected 99,224 rows were verified.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263445"/>
                </a:solidFill>
              </a:defRPr>
            </a:pPr>
            <a:r>
              <a:rPr dirty="0"/>
              <a:t>The geolocation table has 1,000,163 rows. Large transformation statements can exceed client timeouts; use sensible timeouts or repeatable batches when required.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  <a:defRPr sz="1700">
                <a:solidFill>
                  <a:srgbClr val="263445"/>
                </a:solidFill>
              </a:defRPr>
            </a:pPr>
            <a:r>
              <a:rPr dirty="0"/>
              <a:t>Documented validation reports zero required-key failures, zero referential-integrity failures and zero source row-count mismatches; 814 duplicate review IDs and 13 missing category translations remain interpretation items.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6. What the business should do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t>Prioritised recommendations—not assumed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63445"/>
                </a:solidFill>
              </a:defRPr>
            </a:pPr>
            <a:r>
              <a:t>1. Reconcile the 462 unmatched closed deals and assign an explicit reason code to each case.</a:t>
            </a:r>
          </a:p>
          <a:p>
            <a:pPr>
              <a:spcAft>
                <a:spcPts val="1500"/>
              </a:spcAft>
              <a:defRPr sz="1800">
                <a:solidFill>
                  <a:srgbClr val="263445"/>
                </a:solidFill>
              </a:defRPr>
            </a:pPr>
            <a:r>
              <a:t>2. Define seller activation using first transaction within 30/60/90 days after deal closure; compare acquisition cohorts fairly.</a:t>
            </a:r>
          </a:p>
          <a:p>
            <a:pPr>
              <a:spcAft>
                <a:spcPts val="1500"/>
              </a:spcAft>
              <a:defRPr sz="1800">
                <a:solidFill>
                  <a:srgbClr val="263445"/>
                </a:solidFill>
              </a:defRPr>
            </a:pPr>
            <a:r>
              <a:t>3. Maintain an auditable seller-ID crosswalk between marketing/CRM and transaction systems.</a:t>
            </a:r>
          </a:p>
          <a:p>
            <a:pPr>
              <a:spcAft>
                <a:spcPts val="1500"/>
              </a:spcAft>
              <a:defRPr sz="1800">
                <a:solidFill>
                  <a:srgbClr val="263445"/>
                </a:solidFill>
              </a:defRPr>
            </a:pPr>
            <a:r>
              <a:t>4. Review monthly delivered orders, item GMV, AOV, freight and review scores together.</a:t>
            </a:r>
          </a:p>
          <a:p>
            <a:pPr>
              <a:spcAft>
                <a:spcPts val="1500"/>
              </a:spcAft>
              <a:defRPr sz="1800">
                <a:solidFill>
                  <a:srgbClr val="263445"/>
                </a:solidFill>
              </a:defRPr>
            </a:pPr>
            <a:r>
              <a:t>5. Keep row-count, warning, key, duplicate and referential-integrity checks as part of every reload.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65D"/>
                </a:solidFill>
              </a:defRPr>
            </a:pPr>
            <a:r>
              <a:t>7. KPI definitions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573"/>
                </a:solidFill>
              </a:defRPr>
            </a:pPr>
            <a:r>
              <a:t>Clear definitions make the report easier to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500"/>
              </a:spcAft>
              <a:buFont typeface="+mj-lt"/>
              <a:buAutoNum type="arabicPeriod"/>
              <a:defRPr sz="1800">
                <a:solidFill>
                  <a:srgbClr val="263445"/>
                </a:solidFill>
              </a:defRPr>
            </a:pPr>
            <a:r>
              <a:rPr dirty="0"/>
              <a:t>Lead-to-deal ratio = distinct closed deals / distinct qualified leads; confirm the cohort and join.</a:t>
            </a:r>
          </a:p>
          <a:p>
            <a:pPr marL="342900" indent="-342900">
              <a:spcAft>
                <a:spcPts val="1500"/>
              </a:spcAft>
              <a:buFont typeface="+mj-lt"/>
              <a:buAutoNum type="arabicPeriod"/>
              <a:defRPr sz="1800">
                <a:solidFill>
                  <a:srgbClr val="263445"/>
                </a:solidFill>
              </a:defRPr>
            </a:pPr>
            <a:r>
              <a:rPr dirty="0"/>
              <a:t>Unmatched-deal share = closed deals without a transaction match / all closed deals.</a:t>
            </a:r>
          </a:p>
          <a:p>
            <a:pPr marL="342900" indent="-342900">
              <a:spcAft>
                <a:spcPts val="1500"/>
              </a:spcAft>
              <a:buFont typeface="+mj-lt"/>
              <a:buAutoNum type="arabicPeriod"/>
              <a:defRPr sz="1800">
                <a:solidFill>
                  <a:srgbClr val="263445"/>
                </a:solidFill>
              </a:defRPr>
            </a:pPr>
            <a:r>
              <a:rPr dirty="0"/>
              <a:t>Item GMV = sum of item prices for included orders; excludes freight and is not profit.</a:t>
            </a:r>
          </a:p>
          <a:p>
            <a:pPr marL="342900" indent="-342900">
              <a:spcAft>
                <a:spcPts val="1500"/>
              </a:spcAft>
              <a:buFont typeface="+mj-lt"/>
              <a:buAutoNum type="arabicPeriod"/>
              <a:defRPr sz="1800">
                <a:solidFill>
                  <a:srgbClr val="263445"/>
                </a:solidFill>
              </a:defRPr>
            </a:pPr>
            <a:r>
              <a:rPr dirty="0"/>
              <a:t>AOV = item GMV / distinct orders; state whether freight is included.</a:t>
            </a:r>
          </a:p>
          <a:p>
            <a:pPr marL="342900" indent="-342900">
              <a:spcAft>
                <a:spcPts val="1500"/>
              </a:spcAft>
              <a:buFont typeface="+mj-lt"/>
              <a:buAutoNum type="arabicPeriod"/>
              <a:defRPr sz="1800">
                <a:solidFill>
                  <a:srgbClr val="263445"/>
                </a:solidFill>
              </a:defRPr>
            </a:pPr>
            <a:r>
              <a:rPr dirty="0"/>
              <a:t>Association between delivery experience and review scores does not establish causation.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3327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634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Reliable data loads make downstream analysis credible.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634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key business opportunity is understanding the path from a closed deal to an active seller.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  <a:defRPr sz="2200">
                <a:solidFill>
                  <a:srgbClr val="263445"/>
                </a:solidFill>
              </a:defRPr>
            </a:pPr>
            <a:r>
              <a:rPr dirty="0">
                <a:solidFill>
                  <a:schemeClr val="bg1"/>
                </a:solidFill>
              </a:rPr>
              <a:t>The next step is a documented reconciliation process, followed by cohort-based activation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9EAF7"/>
                </a:solidFill>
              </a:defRPr>
            </a:pPr>
            <a:r>
              <a:t>Python · Pandas · SQL · MySQL · 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661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Gopalapu Tejaswini</cp:lastModifiedBy>
  <cp:revision>2</cp:revision>
  <dcterms:created xsi:type="dcterms:W3CDTF">2013-01-27T09:14:16Z</dcterms:created>
  <dcterms:modified xsi:type="dcterms:W3CDTF">2026-10-22T07:03:12Z</dcterms:modified>
  <cp:category/>
</cp:coreProperties>
</file>